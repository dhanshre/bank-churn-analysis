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3" r:id="rId19"/>
    <p:sldId id="314" r:id="rId20"/>
    <p:sldId id="315" r:id="rId21"/>
    <p:sldId id="31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3/16/2024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3/16/2024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3/16/2024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3/16/2024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3/16/2024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3/16/2024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2607" y="1475234"/>
            <a:ext cx="3810819" cy="2901694"/>
          </a:xfrm>
        </p:spPr>
        <p:txBody>
          <a:bodyPr anchor="b"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Analytical CRM Development Of Bank.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Power Point Presentation 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By </a:t>
            </a:r>
            <a:r>
              <a:rPr lang="en-US" sz="1600" dirty="0" err="1"/>
              <a:t>Dhanshree</a:t>
            </a:r>
            <a:r>
              <a:rPr lang="en-US" sz="1600" dirty="0"/>
              <a:t> Soni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1F54A-DB4A-78EA-FEFE-4E5757376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748FB-3551-9C62-B599-2E719CD0B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299270"/>
            <a:ext cx="10058400" cy="376089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main objective is leveraging customer data to develop analytical insights that can help the bank reduce customer churn, improve service delivery, and enhance customer satisfaction.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 Analyze Customer Churn: Identify factors contributing to customer churn (why customers leave the bank) by segmenting customers based on demographics, account details, and activity levels.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 Predict Churn Risk: Develop insights to predict which customers are at higher risk of churning, allowing the bank to take proactive steps to retain them.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 Improve Service Delivery: Analyze customer behavior and preferences to identify areas where the bank can improve service delivery and product offerings.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519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F66C-ACBE-69B4-0AEE-BE0702C4B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Number Of Customer &amp; Churn Count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C9274D-DA44-B963-683F-C7759B2B8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8289" y="2497540"/>
            <a:ext cx="8018585" cy="3059198"/>
          </a:xfrm>
        </p:spPr>
      </p:pic>
    </p:spTree>
    <p:extLst>
      <p:ext uri="{BB962C8B-B14F-4D97-AF65-F5344CB8AC3E}">
        <p14:creationId xmlns:p14="http://schemas.microsoft.com/office/powerpoint/2010/main" val="2272742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43E09-F130-70E9-6A05-86F50F214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Churn Rate w.r.t Year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1A4379C-662D-6A57-BC6A-71319E2591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3822" y="1927274"/>
            <a:ext cx="6724356" cy="3849468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07B67C-5E80-8E22-44B9-036A90FE6168}"/>
              </a:ext>
            </a:extLst>
          </p:cNvPr>
          <p:cNvSpPr txBox="1"/>
          <p:nvPr/>
        </p:nvSpPr>
        <p:spPr>
          <a:xfrm flipH="1">
            <a:off x="1012874" y="5875216"/>
            <a:ext cx="10642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Churn Percentage increased from the year 2022 to 2023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130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43E09-F130-70E9-6A05-86F50F214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Churn Rate w.r.t DOJ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07B67C-5E80-8E22-44B9-036A90FE6168}"/>
              </a:ext>
            </a:extLst>
          </p:cNvPr>
          <p:cNvSpPr txBox="1"/>
          <p:nvPr/>
        </p:nvSpPr>
        <p:spPr>
          <a:xfrm flipH="1">
            <a:off x="1012874" y="5875216"/>
            <a:ext cx="10642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is a gradual increase in the Churn Percentage for the customers who joined at latest years.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297FA2E-938E-A1AB-1238-BF5F527DD0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5403" y="1925894"/>
            <a:ext cx="6780628" cy="3760788"/>
          </a:xfrm>
        </p:spPr>
      </p:pic>
    </p:spTree>
    <p:extLst>
      <p:ext uri="{BB962C8B-B14F-4D97-AF65-F5344CB8AC3E}">
        <p14:creationId xmlns:p14="http://schemas.microsoft.com/office/powerpoint/2010/main" val="591282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43E09-F130-70E9-6A05-86F50F214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Churn Count w.r.t Customer Active Status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07B67C-5E80-8E22-44B9-036A90FE6168}"/>
              </a:ext>
            </a:extLst>
          </p:cNvPr>
          <p:cNvSpPr txBox="1"/>
          <p:nvPr/>
        </p:nvSpPr>
        <p:spPr>
          <a:xfrm flipH="1">
            <a:off x="1012874" y="5875216"/>
            <a:ext cx="10642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Customers who are inactive has higher count of getting churned.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9993335-3478-908A-D872-E0A46A1B83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5742" y="1983544"/>
            <a:ext cx="6639950" cy="3885443"/>
          </a:xfrm>
        </p:spPr>
      </p:pic>
    </p:spTree>
    <p:extLst>
      <p:ext uri="{BB962C8B-B14F-4D97-AF65-F5344CB8AC3E}">
        <p14:creationId xmlns:p14="http://schemas.microsoft.com/office/powerpoint/2010/main" val="1522331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43E09-F130-70E9-6A05-86F50F214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Churn Count w.r.t Geography Location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07B67C-5E80-8E22-44B9-036A90FE6168}"/>
              </a:ext>
            </a:extLst>
          </p:cNvPr>
          <p:cNvSpPr txBox="1"/>
          <p:nvPr/>
        </p:nvSpPr>
        <p:spPr>
          <a:xfrm flipH="1">
            <a:off x="1012874" y="5875216"/>
            <a:ext cx="10642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Customers who are from the location Germany and France have higher count of getting churned.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6A02F52-71CD-6993-166F-00F090B157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2012" y="1955409"/>
            <a:ext cx="6386733" cy="3913579"/>
          </a:xfrm>
        </p:spPr>
      </p:pic>
    </p:spTree>
    <p:extLst>
      <p:ext uri="{BB962C8B-B14F-4D97-AF65-F5344CB8AC3E}">
        <p14:creationId xmlns:p14="http://schemas.microsoft.com/office/powerpoint/2010/main" val="3317336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43E09-F130-70E9-6A05-86F50F214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Churn Count w.r.t Gender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07B67C-5E80-8E22-44B9-036A90FE6168}"/>
              </a:ext>
            </a:extLst>
          </p:cNvPr>
          <p:cNvSpPr txBox="1"/>
          <p:nvPr/>
        </p:nvSpPr>
        <p:spPr>
          <a:xfrm flipH="1">
            <a:off x="1012874" y="5875216"/>
            <a:ext cx="10642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Female Customers have higher count of getting churned.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0723632-54BA-AFCF-8020-B19B107C6F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2012" y="1983545"/>
            <a:ext cx="6288259" cy="3885443"/>
          </a:xfrm>
        </p:spPr>
      </p:pic>
    </p:spTree>
    <p:extLst>
      <p:ext uri="{BB962C8B-B14F-4D97-AF65-F5344CB8AC3E}">
        <p14:creationId xmlns:p14="http://schemas.microsoft.com/office/powerpoint/2010/main" val="777561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43E09-F130-70E9-6A05-86F50F214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Churn Count w.r.t Estimated Salary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07B67C-5E80-8E22-44B9-036A90FE6168}"/>
              </a:ext>
            </a:extLst>
          </p:cNvPr>
          <p:cNvSpPr txBox="1"/>
          <p:nvPr/>
        </p:nvSpPr>
        <p:spPr>
          <a:xfrm flipH="1">
            <a:off x="848751" y="5711485"/>
            <a:ext cx="10494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There is not large difference between the salary and churn count. According to the graph higher the salary, higher is the churn percentage.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61A9EC0-26F0-4DFD-31E0-4E6313D5DA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6674" y="1947973"/>
            <a:ext cx="6182067" cy="3552898"/>
          </a:xfrm>
        </p:spPr>
      </p:pic>
    </p:spTree>
    <p:extLst>
      <p:ext uri="{BB962C8B-B14F-4D97-AF65-F5344CB8AC3E}">
        <p14:creationId xmlns:p14="http://schemas.microsoft.com/office/powerpoint/2010/main" val="3978849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43E09-F130-70E9-6A05-86F50F214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Churn Count w.r.t Customer Age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07B67C-5E80-8E22-44B9-036A90FE6168}"/>
              </a:ext>
            </a:extLst>
          </p:cNvPr>
          <p:cNvSpPr txBox="1"/>
          <p:nvPr/>
        </p:nvSpPr>
        <p:spPr>
          <a:xfrm flipH="1">
            <a:off x="848751" y="5924822"/>
            <a:ext cx="10494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Customers who are in between the age of 20 to 40 have higher churn percentage.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A253733-DD42-6D56-2176-FC81D5358A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6080" y="1950696"/>
            <a:ext cx="6597748" cy="3831125"/>
          </a:xfrm>
        </p:spPr>
      </p:pic>
    </p:spTree>
    <p:extLst>
      <p:ext uri="{BB962C8B-B14F-4D97-AF65-F5344CB8AC3E}">
        <p14:creationId xmlns:p14="http://schemas.microsoft.com/office/powerpoint/2010/main" val="2338857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43E09-F130-70E9-6A05-86F50F214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Churn Count w.r.t Credit Card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07B67C-5E80-8E22-44B9-036A90FE6168}"/>
              </a:ext>
            </a:extLst>
          </p:cNvPr>
          <p:cNvSpPr txBox="1"/>
          <p:nvPr/>
        </p:nvSpPr>
        <p:spPr>
          <a:xfrm flipH="1">
            <a:off x="848751" y="5924822"/>
            <a:ext cx="10494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Customers who have credit cards have higher churn percentage.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A78FF20-18BA-DB28-3689-9EC03C028B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0486" y="1950697"/>
            <a:ext cx="6231987" cy="3760788"/>
          </a:xfrm>
        </p:spPr>
      </p:pic>
    </p:spTree>
    <p:extLst>
      <p:ext uri="{BB962C8B-B14F-4D97-AF65-F5344CB8AC3E}">
        <p14:creationId xmlns:p14="http://schemas.microsoft.com/office/powerpoint/2010/main" val="1569847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43E09-F130-70E9-6A05-86F50F214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Churn Count w.r.t Bank Balance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07B67C-5E80-8E22-44B9-036A90FE6168}"/>
              </a:ext>
            </a:extLst>
          </p:cNvPr>
          <p:cNvSpPr txBox="1"/>
          <p:nvPr/>
        </p:nvSpPr>
        <p:spPr>
          <a:xfrm flipH="1">
            <a:off x="848751" y="5924822"/>
            <a:ext cx="10494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Customers who has average bank balance between 50K to 100k have higher churn percentage.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BA4EBFC-D559-CA8C-D8EA-CBB3126372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0487" y="1950696"/>
            <a:ext cx="6443002" cy="3831125"/>
          </a:xfrm>
        </p:spPr>
      </p:pic>
    </p:spTree>
    <p:extLst>
      <p:ext uri="{BB962C8B-B14F-4D97-AF65-F5344CB8AC3E}">
        <p14:creationId xmlns:p14="http://schemas.microsoft.com/office/powerpoint/2010/main" val="2206592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43E09-F130-70E9-6A05-86F50F214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Churn Count w.r.t Credit Score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07B67C-5E80-8E22-44B9-036A90FE6168}"/>
              </a:ext>
            </a:extLst>
          </p:cNvPr>
          <p:cNvSpPr txBox="1"/>
          <p:nvPr/>
        </p:nvSpPr>
        <p:spPr>
          <a:xfrm flipH="1">
            <a:off x="848751" y="5924822"/>
            <a:ext cx="10494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Customers who has average credit scores between 500 to 700 have higher churn percentage.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678A696-B0BB-0377-0FF7-6D498A7376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9471" y="1950696"/>
            <a:ext cx="6879101" cy="3817057"/>
          </a:xfrm>
        </p:spPr>
      </p:pic>
    </p:spTree>
    <p:extLst>
      <p:ext uri="{BB962C8B-B14F-4D97-AF65-F5344CB8AC3E}">
        <p14:creationId xmlns:p14="http://schemas.microsoft.com/office/powerpoint/2010/main" val="498300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43E09-F130-70E9-6A05-86F50F214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Churn Count w.r.t No. Of Products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07B67C-5E80-8E22-44B9-036A90FE6168}"/>
              </a:ext>
            </a:extLst>
          </p:cNvPr>
          <p:cNvSpPr txBox="1"/>
          <p:nvPr/>
        </p:nvSpPr>
        <p:spPr>
          <a:xfrm flipH="1">
            <a:off x="848751" y="5924822"/>
            <a:ext cx="10494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Customers who has purchased lesser number of products, specifically 1  have higher churn percentage.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7573AF4-8CC3-14EF-8B7C-12862E4975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6081" y="1950697"/>
            <a:ext cx="6541476" cy="3845192"/>
          </a:xfrm>
        </p:spPr>
      </p:pic>
    </p:spTree>
    <p:extLst>
      <p:ext uri="{BB962C8B-B14F-4D97-AF65-F5344CB8AC3E}">
        <p14:creationId xmlns:p14="http://schemas.microsoft.com/office/powerpoint/2010/main" val="2677506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03D59-A363-8354-A893-94AE151C5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Briefing All The Segments Affecting Churn Count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BF7FA2-3CEA-0D68-917C-9D831C6E52E9}"/>
              </a:ext>
            </a:extLst>
          </p:cNvPr>
          <p:cNvSpPr txBox="1"/>
          <p:nvPr/>
        </p:nvSpPr>
        <p:spPr>
          <a:xfrm>
            <a:off x="1066799" y="1967718"/>
            <a:ext cx="10215489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Customers who are from Germany and France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Customers who are inactive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Customers who have credit cards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Customer who has a smaller number of products, particularly 1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Customers who are female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Customers who has average credit score and bank balance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Customers whose joining year was 2018 or 2019</a:t>
            </a:r>
          </a:p>
          <a:p>
            <a:r>
              <a:rPr lang="en-US" sz="3200" dirty="0"/>
              <a:t>Tends to have higher churn count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148732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8E935-0BAB-6D4B-22EC-164ABD74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To Reduce Churn Count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E570E-E0AB-AFBC-2DD2-A1D70F527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Targeted Marketing and Cross-Selling: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 Develop targeted marketing campaigns: Focus on these customer segments in Germany and France. Highlight the benefits of using multiple products (e.g., bundled packages with discounts).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 Cross-selling opportunities: Recommend additional products or services that complement their existing accounts (e.g., savings accounts for those with average balances, credit cards with rewards programs for inactive customers).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858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8E935-0BAB-6D4B-22EC-164ABD74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To Reduce Churn Count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E570E-E0AB-AFBC-2DD2-A1D70F527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Engagement Strategies: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 Welcome packages and onboarding: For new customers, provide a personalized onboarding experience to educate them about available products and services.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 Reactivation campaigns: Target inactive customers with special offers or incentives to re-engage them, such as temporary fee waivers or personalized financial advice.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 Improved Customer Service: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 Proactive outreach: Contact new and inactive customers proactively to address any concerns or questions they might have.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 Digital tools and resources: Develop user-friendly online banking platforms and mobile apps to improve accessibility and convenience for customers who prefer digital interactions</a:t>
            </a:r>
            <a:r>
              <a:rPr lang="en-US" dirty="0"/>
              <a:t>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1878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8E935-0BAB-6D4B-22EC-164ABD74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To Reduce Churn Count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E570E-E0AB-AFBC-2DD2-A1D70F527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Personalization: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 Personalized communication: Use customer data to personalize communication and offers, making them more relevant and engaging.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Additional Considerations: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 Analyze reasons for inactivity: Understand why these customers are inactive. It could be due to lack of product knowledge, dissatisfaction with existing products, or life changes. Address these specific reasons in your strategies.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1687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{78F58094-5CDB-40E2-B5C2-2DA0A256F881}tf22712842_win32</Template>
  <TotalTime>85</TotalTime>
  <Words>727</Words>
  <Application>Microsoft Office PowerPoint</Application>
  <PresentationFormat>Widescreen</PresentationFormat>
  <Paragraphs>65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Bookman Old Style</vt:lpstr>
      <vt:lpstr>Calibri</vt:lpstr>
      <vt:lpstr>Franklin Gothic Book</vt:lpstr>
      <vt:lpstr>Wingdings</vt:lpstr>
      <vt:lpstr>Custom</vt:lpstr>
      <vt:lpstr>Analytical CRM Development Of Bank.</vt:lpstr>
      <vt:lpstr>Objective</vt:lpstr>
      <vt:lpstr>Total Number Of Customer &amp; Churn Count</vt:lpstr>
      <vt:lpstr>Customer Churn Rate w.r.t Year</vt:lpstr>
      <vt:lpstr>Customer Churn Rate w.r.t DOJ</vt:lpstr>
      <vt:lpstr>Customer Churn Count w.r.t Customer Active Status</vt:lpstr>
      <vt:lpstr>Customer Churn Count w.r.t Geography Location</vt:lpstr>
      <vt:lpstr>Customer Churn Count w.r.t Gender</vt:lpstr>
      <vt:lpstr>Customer Churn Count w.r.t Estimated Salary</vt:lpstr>
      <vt:lpstr>Customer Churn Count w.r.t Customer Age</vt:lpstr>
      <vt:lpstr>Customer Churn Count w.r.t Credit Card</vt:lpstr>
      <vt:lpstr>Customer Churn Count w.r.t Bank Balance</vt:lpstr>
      <vt:lpstr>Customer Churn Count w.r.t Credit Score</vt:lpstr>
      <vt:lpstr>Customer Churn Count w.r.t No. Of Products</vt:lpstr>
      <vt:lpstr>Briefing All The Segments Affecting Churn Count</vt:lpstr>
      <vt:lpstr>Measures To Reduce Churn Count</vt:lpstr>
      <vt:lpstr>Measures To Reduce Churn Count</vt:lpstr>
      <vt:lpstr>Measures To Reduce Churn Count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Analytical CRM Development Of Bank.</dc:title>
  <dc:creator>D Soni</dc:creator>
  <cp:lastModifiedBy>D Soni</cp:lastModifiedBy>
  <cp:revision>1</cp:revision>
  <dcterms:created xsi:type="dcterms:W3CDTF">2024-03-16T18:15:11Z</dcterms:created>
  <dcterms:modified xsi:type="dcterms:W3CDTF">2024-03-16T19:40:30Z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